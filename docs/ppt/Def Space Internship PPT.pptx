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oca One Bold" charset="1" panose="00000800000000000000"/>
      <p:regular r:id="rId15"/>
    </p:embeddedFon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Open Sans Condensed" charset="1" panose="00000000000000000000"/>
      <p:regular r:id="rId18"/>
    </p:embeddedFont>
    <p:embeddedFont>
      <p:font typeface="Antonio Bold" charset="1" panose="02000803000000000000"/>
      <p:regular r:id="rId19"/>
    </p:embeddedFont>
    <p:embeddedFont>
      <p:font typeface="Open Sans Condensed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463540" y="9538977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682495" y="860425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640788" y="9534215"/>
            <a:ext cx="3323284" cy="8541323"/>
            <a:chOff x="0" y="0"/>
            <a:chExt cx="875268" cy="22495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9398" y="885825"/>
            <a:ext cx="17989204" cy="219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8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ca One Bold"/>
                <a:ea typeface="Roca One Bold"/>
                <a:cs typeface="Roca One Bold"/>
                <a:sym typeface="Roca One Bold"/>
              </a:rPr>
              <a:t>MATLAB &amp; Simulink Based Water Rocket Simulation and Optimization</a:t>
            </a:r>
          </a:p>
          <a:p>
            <a:pPr algn="ctr">
              <a:lnSpc>
                <a:spcPts val="6668"/>
              </a:lnSpc>
            </a:pPr>
            <a:r>
              <a:rPr lang="en-US" b="true" sz="38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ca One Bold"/>
                <a:ea typeface="Roca One Bold"/>
                <a:cs typeface="Roca One Bold"/>
                <a:sym typeface="Roca One Bold"/>
              </a:rPr>
              <a:t> </a:t>
            </a:r>
            <a:r>
              <a:rPr lang="en-US" sz="3899" b="true">
                <a:solidFill>
                  <a:srgbClr val="000000"/>
                </a:solidFill>
                <a:latin typeface="Roca One Bold"/>
                <a:ea typeface="Roca One Bold"/>
                <a:cs typeface="Roca One Bold"/>
                <a:sym typeface="Roca One Bold"/>
              </a:rPr>
              <a:t>Automated Parametric Design &amp; 3D Visualization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2495" y="3823335"/>
            <a:ext cx="16326806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 by: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Abhishek Jayvant Ahirrao, B.Tech Third Year (E&amp;TC)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Vaishnavi Subhash Pawar, B.Tech Third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Year (E&amp;TC)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Institute: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K. K. Wagh Institute of Engineering Education and Research, Nashik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Electronics and Telecommunication Engineering (E&amp;TC)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Academic Year: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2025–2026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Type: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675" y="1333500"/>
            <a:ext cx="15133533" cy="900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5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Design, simulate, and analyze a model water rocket</a:t>
            </a:r>
          </a:p>
          <a:p>
            <a:pPr algn="just" marL="863595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Focus on:</a:t>
            </a:r>
          </a:p>
          <a:p>
            <a:pPr algn="just" marL="863595" indent="-431798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Propulsion</a:t>
            </a:r>
          </a:p>
          <a:p>
            <a:pPr algn="just" marL="863595" indent="-431798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Aerodynamics</a:t>
            </a:r>
          </a:p>
          <a:p>
            <a:pPr algn="just" marL="863595" indent="-431798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Stability</a:t>
            </a:r>
          </a:p>
          <a:p>
            <a:pPr algn="just">
              <a:lnSpc>
                <a:spcPts val="560"/>
              </a:lnSpc>
            </a:p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  Mandatory: S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oftware simulation of water rocket</a:t>
            </a:r>
          </a:p>
          <a:p>
            <a:pPr algn="just">
              <a:lnSpc>
                <a:spcPts val="1400"/>
              </a:lnSpc>
            </a:pPr>
          </a:p>
          <a:p>
            <a:pPr algn="just" marL="863595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Simulation must include:</a:t>
            </a:r>
          </a:p>
          <a:p>
            <a:pPr algn="just" marL="863595" indent="-431798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Trajectory analysis</a:t>
            </a:r>
          </a:p>
          <a:p>
            <a:pPr algn="just" marL="863595" indent="-431798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Thrust analysis</a:t>
            </a:r>
          </a:p>
          <a:p>
            <a:pPr algn="just" marL="863595" indent="-431798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Stability considerations</a:t>
            </a:r>
          </a:p>
          <a:p>
            <a:pPr algn="just">
              <a:lnSpc>
                <a:spcPts val="2380"/>
              </a:lnSpc>
            </a:pPr>
          </a:p>
          <a:p>
            <a:pPr algn="just" marL="863595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Internship Expectation:   Simulation-driven engineering approach</a:t>
            </a:r>
          </a:p>
          <a:p>
            <a:pPr algn="just">
              <a:lnSpc>
                <a:spcPts val="55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2875609" y="1745677"/>
            <a:ext cx="3323284" cy="8541323"/>
            <a:chOff x="0" y="0"/>
            <a:chExt cx="875268" cy="2249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09229" y="1745677"/>
            <a:ext cx="6460498" cy="6016338"/>
          </a:xfrm>
          <a:custGeom>
            <a:avLst/>
            <a:gdLst/>
            <a:ahLst/>
            <a:cxnLst/>
            <a:rect r="r" b="b" t="t" l="l"/>
            <a:pathLst>
              <a:path h="6016338" w="6460498">
                <a:moveTo>
                  <a:pt x="0" y="0"/>
                </a:moveTo>
                <a:lnTo>
                  <a:pt x="6460497" y="0"/>
                </a:lnTo>
                <a:lnTo>
                  <a:pt x="6460497" y="6016338"/>
                </a:lnTo>
                <a:lnTo>
                  <a:pt x="0" y="6016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675" y="361950"/>
            <a:ext cx="470013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675" y="1294584"/>
            <a:ext cx="9863437" cy="869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Develop a physics-based water rocket mode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l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Perform s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oftware simulation (mandatory requirement)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Analyze:</a:t>
            </a:r>
          </a:p>
          <a:p>
            <a:pPr algn="l" marL="863595" indent="-431797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He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ight vs Time (trajectory)</a:t>
            </a:r>
          </a:p>
          <a:p>
            <a:pPr algn="l" marL="863595" indent="-431797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Velocity vs Time</a:t>
            </a:r>
          </a:p>
          <a:p>
            <a:pPr algn="l" marL="863595" indent="-431797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Thrust vs Time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   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Study effect of: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Water fraction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Internal pressure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Identify optimal configuration for maximum altitude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875609" y="1745677"/>
            <a:ext cx="3323284" cy="8541323"/>
            <a:chOff x="0" y="0"/>
            <a:chExt cx="875268" cy="2249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62711" y="5235935"/>
            <a:ext cx="7758614" cy="4955815"/>
          </a:xfrm>
          <a:custGeom>
            <a:avLst/>
            <a:gdLst/>
            <a:ahLst/>
            <a:cxnLst/>
            <a:rect r="r" b="b" t="t" l="l"/>
            <a:pathLst>
              <a:path h="4955815" w="7758614">
                <a:moveTo>
                  <a:pt x="0" y="0"/>
                </a:moveTo>
                <a:lnTo>
                  <a:pt x="7758614" y="0"/>
                </a:lnTo>
                <a:lnTo>
                  <a:pt x="7758614" y="4955815"/>
                </a:lnTo>
                <a:lnTo>
                  <a:pt x="0" y="4955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099672" y="77335"/>
            <a:ext cx="6484691" cy="5066165"/>
          </a:xfrm>
          <a:custGeom>
            <a:avLst/>
            <a:gdLst/>
            <a:ahLst/>
            <a:cxnLst/>
            <a:rect r="r" b="b" t="t" l="l"/>
            <a:pathLst>
              <a:path h="5066165" w="6484691">
                <a:moveTo>
                  <a:pt x="0" y="0"/>
                </a:moveTo>
                <a:lnTo>
                  <a:pt x="6484692" y="0"/>
                </a:lnTo>
                <a:lnTo>
                  <a:pt x="6484692" y="5066165"/>
                </a:lnTo>
                <a:lnTo>
                  <a:pt x="0" y="5066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47675" y="361950"/>
            <a:ext cx="819322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OBJECTIVES OF THIS PROJECT: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1114" y="1038225"/>
            <a:ext cx="12690504" cy="7625074"/>
          </a:xfrm>
          <a:custGeom>
            <a:avLst/>
            <a:gdLst/>
            <a:ahLst/>
            <a:cxnLst/>
            <a:rect r="r" b="b" t="t" l="l"/>
            <a:pathLst>
              <a:path h="7625074" w="12690504">
                <a:moveTo>
                  <a:pt x="0" y="0"/>
                </a:moveTo>
                <a:lnTo>
                  <a:pt x="12690505" y="0"/>
                </a:lnTo>
                <a:lnTo>
                  <a:pt x="12690505" y="7625074"/>
                </a:lnTo>
                <a:lnTo>
                  <a:pt x="0" y="762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99" t="0" r="-4713" b="-559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90554" y="1314642"/>
            <a:ext cx="5178082" cy="56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Software Used: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MATLAB – num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eric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al simulation &amp; optimization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Simulink – dynamic modeling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Simu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l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ink 3D Animation –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5304" y="276225"/>
            <a:ext cx="819322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 SOFTWARE TOOLS &amp; TECH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104" y="7261372"/>
            <a:ext cx="10203705" cy="279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Why Software Simulation?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Safe design evaluation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Mul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tiple design comparisons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Required by PS as minimum passing criteria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75609" y="1745677"/>
            <a:ext cx="3323284" cy="8541323"/>
            <a:chOff x="0" y="0"/>
            <a:chExt cx="875268" cy="22495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54058" y="2978918"/>
            <a:ext cx="4889263" cy="1131407"/>
          </a:xfrm>
          <a:custGeom>
            <a:avLst/>
            <a:gdLst/>
            <a:ahLst/>
            <a:cxnLst/>
            <a:rect r="r" b="b" t="t" l="l"/>
            <a:pathLst>
              <a:path h="1131407" w="4889263">
                <a:moveTo>
                  <a:pt x="0" y="0"/>
                </a:moveTo>
                <a:lnTo>
                  <a:pt x="4889263" y="0"/>
                </a:lnTo>
                <a:lnTo>
                  <a:pt x="4889263" y="1131407"/>
                </a:lnTo>
                <a:lnTo>
                  <a:pt x="0" y="113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263" t="-48168" r="-16877" b="-2395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35754" y="6137081"/>
            <a:ext cx="7676349" cy="3670691"/>
          </a:xfrm>
          <a:custGeom>
            <a:avLst/>
            <a:gdLst/>
            <a:ahLst/>
            <a:cxnLst/>
            <a:rect r="r" b="b" t="t" l="l"/>
            <a:pathLst>
              <a:path h="3670691" w="7676349">
                <a:moveTo>
                  <a:pt x="0" y="0"/>
                </a:moveTo>
                <a:lnTo>
                  <a:pt x="7676349" y="0"/>
                </a:lnTo>
                <a:lnTo>
                  <a:pt x="7676349" y="3670690"/>
                </a:lnTo>
                <a:lnTo>
                  <a:pt x="0" y="3670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4049" y="1333500"/>
            <a:ext cx="8439951" cy="349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Water Rocket 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Physic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 Implemented: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N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ew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ton’s Second Law with variable mass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Thrust from water expulsion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Gravity a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nd aerodynamic drag included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Pressure decay due to air expansion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7675" y="361950"/>
            <a:ext cx="1104538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MATHEMATICAL &amp; PHYSICAL 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54058" y="2055526"/>
            <a:ext cx="301987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Key Equation: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4999" y="6184901"/>
            <a:ext cx="9926652" cy="349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Simulation Stra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tegy: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Wat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er frac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tion varied from 20% to 60%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Pressure varied from 3 bar to 7 bar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Hundreds of simulations execu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te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d automatically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Maximum height recorded for each case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4049" y="5213351"/>
            <a:ext cx="1104538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AUTOMATED PARAMETRIC SIMULATION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1149" y="6861176"/>
            <a:ext cx="7459054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Why this matters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: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Go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es bey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ond single-case simulation</a:t>
            </a:r>
          </a:p>
          <a:p>
            <a:pPr algn="just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Enables 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d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esign decision making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1926" y="5988905"/>
            <a:ext cx="7877499" cy="4244003"/>
          </a:xfrm>
          <a:custGeom>
            <a:avLst/>
            <a:gdLst/>
            <a:ahLst/>
            <a:cxnLst/>
            <a:rect r="r" b="b" t="t" l="l"/>
            <a:pathLst>
              <a:path h="4244003" w="7877499">
                <a:moveTo>
                  <a:pt x="0" y="0"/>
                </a:moveTo>
                <a:lnTo>
                  <a:pt x="7877499" y="0"/>
                </a:lnTo>
                <a:lnTo>
                  <a:pt x="7877499" y="4244003"/>
                </a:lnTo>
                <a:lnTo>
                  <a:pt x="0" y="4244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37188" y="1527899"/>
            <a:ext cx="6835228" cy="4314737"/>
          </a:xfrm>
          <a:custGeom>
            <a:avLst/>
            <a:gdLst/>
            <a:ahLst/>
            <a:cxnLst/>
            <a:rect r="r" b="b" t="t" l="l"/>
            <a:pathLst>
              <a:path h="4314737" w="6835228">
                <a:moveTo>
                  <a:pt x="0" y="0"/>
                </a:moveTo>
                <a:lnTo>
                  <a:pt x="6835228" y="0"/>
                </a:lnTo>
                <a:lnTo>
                  <a:pt x="6835228" y="4314738"/>
                </a:lnTo>
                <a:lnTo>
                  <a:pt x="0" y="4314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190" y="5979380"/>
            <a:ext cx="7544894" cy="4244003"/>
          </a:xfrm>
          <a:custGeom>
            <a:avLst/>
            <a:gdLst/>
            <a:ahLst/>
            <a:cxnLst/>
            <a:rect r="r" b="b" t="t" l="l"/>
            <a:pathLst>
              <a:path h="4244003" w="7544894">
                <a:moveTo>
                  <a:pt x="0" y="0"/>
                </a:moveTo>
                <a:lnTo>
                  <a:pt x="7544894" y="0"/>
                </a:lnTo>
                <a:lnTo>
                  <a:pt x="7544894" y="4244003"/>
                </a:lnTo>
                <a:lnTo>
                  <a:pt x="0" y="4244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1500" y="985105"/>
            <a:ext cx="11170990" cy="490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R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esults Generated: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He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ight vs Time → trajectory analysis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Velocity vs Time → motion behavior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Thrust vs Time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→ prop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ulsion performance</a:t>
            </a:r>
          </a:p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Obs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ervation: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Prop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er thrust phase followed by coasting phase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Physically consistent behavior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2425" y="209550"/>
            <a:ext cx="110133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TRAJECTORY, VELOCITY &amp; THRUST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8642" y="314325"/>
            <a:ext cx="6955406" cy="5972955"/>
          </a:xfrm>
          <a:custGeom>
            <a:avLst/>
            <a:gdLst/>
            <a:ahLst/>
            <a:cxnLst/>
            <a:rect r="r" b="b" t="t" l="l"/>
            <a:pathLst>
              <a:path h="5972955" w="6955406">
                <a:moveTo>
                  <a:pt x="0" y="0"/>
                </a:moveTo>
                <a:lnTo>
                  <a:pt x="6955407" y="0"/>
                </a:lnTo>
                <a:lnTo>
                  <a:pt x="6955407" y="5972955"/>
                </a:lnTo>
                <a:lnTo>
                  <a:pt x="0" y="59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925" y="4616625"/>
            <a:ext cx="9857373" cy="5544773"/>
          </a:xfrm>
          <a:custGeom>
            <a:avLst/>
            <a:gdLst/>
            <a:ahLst/>
            <a:cxnLst/>
            <a:rect r="r" b="b" t="t" l="l"/>
            <a:pathLst>
              <a:path h="5544773" w="9857373">
                <a:moveTo>
                  <a:pt x="0" y="0"/>
                </a:moveTo>
                <a:lnTo>
                  <a:pt x="9857373" y="0"/>
                </a:lnTo>
                <a:lnTo>
                  <a:pt x="9857373" y="5544772"/>
                </a:lnTo>
                <a:lnTo>
                  <a:pt x="0" y="5544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1000" y="1443727"/>
            <a:ext cx="8419161" cy="279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erformance Analysis: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H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igher pressure → higher thrust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Too much water → excess mass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Too 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little water → short thrust duration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000" y="361950"/>
            <a:ext cx="110133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PRESSURE &amp; WATER FRACTION EFFECT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7445" y="7169149"/>
            <a:ext cx="8419161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V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i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sualiz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ation Tools Used: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Pr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essure vs Maximum Height plot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Maximum Height heatmap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000" y="2298700"/>
            <a:ext cx="9620197" cy="56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K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ey Findings: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Optimal balance between thrust and mass exists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Stabil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ity improves near optimal water fraction</a:t>
            </a:r>
          </a:p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Best C</a:t>
            </a:r>
            <a:r>
              <a:rPr lang="en-US" sz="3999" b="true">
                <a:solidFill>
                  <a:srgbClr val="14120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onfiguration Obtained: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Water Fraction = 0.40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Pressure = 7 bar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Maximum He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ight ≈ 48.88 m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This satisfies PS focus on stability &amp;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1000" y="600075"/>
            <a:ext cx="110133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OPTIMAL CONFIGURATION &amp; STABILITY INSIGHT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944047" y="3089564"/>
            <a:ext cx="8286803" cy="4464515"/>
          </a:xfrm>
          <a:custGeom>
            <a:avLst/>
            <a:gdLst/>
            <a:ahLst/>
            <a:cxnLst/>
            <a:rect r="r" b="b" t="t" l="l"/>
            <a:pathLst>
              <a:path h="4464515" w="8286803">
                <a:moveTo>
                  <a:pt x="0" y="0"/>
                </a:moveTo>
                <a:lnTo>
                  <a:pt x="8286803" y="0"/>
                </a:lnTo>
                <a:lnTo>
                  <a:pt x="8286803" y="4464515"/>
                </a:lnTo>
                <a:lnTo>
                  <a:pt x="0" y="44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000" y="1563908"/>
            <a:ext cx="11054768" cy="279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Mandatory software simulation completed successfully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Propulsion, trajectory, and stabil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ity analyzed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Simulation used as a virtual test bench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Approach align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 with real aer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ospace engineering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1000" y="662209"/>
            <a:ext cx="42408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0124" y="5191125"/>
            <a:ext cx="634264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INTERNSHIP READINESS: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0124" y="6096000"/>
            <a:ext cx="8152264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trong simulation foundation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Mult</a:t>
            </a: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idisciplinary relevance</a:t>
            </a:r>
          </a:p>
          <a:p>
            <a:pPr algn="l" marL="863595" indent="-431797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Extendable to physical model (future)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DAG_6FJ_zFM</dc:identifier>
  <dcterms:modified xsi:type="dcterms:W3CDTF">2011-08-01T06:04:30Z</dcterms:modified>
  <cp:revision>1</cp:revision>
  <dc:title>Your paragraph text</dc:title>
</cp:coreProperties>
</file>